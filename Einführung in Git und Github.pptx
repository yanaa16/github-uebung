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9" r:id="rId4"/>
    <p:sldId id="269" r:id="rId5"/>
    <p:sldId id="262" r:id="rId6"/>
    <p:sldId id="263" r:id="rId7"/>
    <p:sldId id="275" r:id="rId8"/>
    <p:sldId id="260" r:id="rId9"/>
    <p:sldId id="265" r:id="rId10"/>
    <p:sldId id="258" r:id="rId11"/>
    <p:sldId id="261" r:id="rId12"/>
    <p:sldId id="264" r:id="rId13"/>
    <p:sldId id="270" r:id="rId14"/>
    <p:sldId id="271" r:id="rId15"/>
    <p:sldId id="266" r:id="rId16"/>
    <p:sldId id="272" r:id="rId17"/>
    <p:sldId id="268" r:id="rId18"/>
    <p:sldId id="27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6351" autoAdjust="0"/>
  </p:normalViewPr>
  <p:slideViewPr>
    <p:cSldViewPr snapToGrid="0">
      <p:cViewPr varScale="1">
        <p:scale>
          <a:sx n="98" d="100"/>
          <a:sy n="98" d="100"/>
        </p:scale>
        <p:origin x="34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5DC990-979D-4B1C-8AB2-0432C149ACE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0C207E-E753-4508-8D7B-969934C7045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4330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die Praxis, Änderungen am Softwarecode zu verfolgen und zu verwalten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Bei einer </a:t>
            </a:r>
            <a:r>
              <a:rPr lang="de-DE" b="1" dirty="0"/>
              <a:t>dezentralen (</a:t>
            </a:r>
            <a:r>
              <a:rPr lang="de-DE" b="1" dirty="0" err="1"/>
              <a:t>distributed</a:t>
            </a:r>
            <a:r>
              <a:rPr lang="de-DE" b="1" dirty="0"/>
              <a:t>) Versionskontrolle</a:t>
            </a:r>
            <a:r>
              <a:rPr lang="de-DE" dirty="0"/>
              <a:t> hat nicht nur ein zentraler Server die Versionsgeschichte, sondern </a:t>
            </a:r>
            <a:r>
              <a:rPr lang="de-DE" b="1" dirty="0"/>
              <a:t>jede Person hat lokal eine vollständige Kopie des </a:t>
            </a:r>
            <a:r>
              <a:rPr lang="de-DE" b="1" dirty="0" err="1"/>
              <a:t>Git-Repositories</a:t>
            </a:r>
            <a:r>
              <a:rPr lang="de-DE" b="1" dirty="0"/>
              <a:t> inklusive Historie</a:t>
            </a:r>
            <a:r>
              <a:rPr lang="de-DE" dirty="0"/>
              <a:t>.</a:t>
            </a:r>
          </a:p>
          <a:p>
            <a:r>
              <a:rPr lang="en-GB" dirty="0"/>
              <a:t>Du </a:t>
            </a:r>
            <a:r>
              <a:rPr lang="en-GB" dirty="0" err="1"/>
              <a:t>kannst</a:t>
            </a:r>
            <a:r>
              <a:rPr lang="en-GB" dirty="0"/>
              <a:t> </a:t>
            </a:r>
            <a:r>
              <a:rPr lang="en-GB" b="1" dirty="0" err="1"/>
              <a:t>lokal</a:t>
            </a:r>
            <a:r>
              <a:rPr lang="en-GB" b="1" dirty="0"/>
              <a:t> </a:t>
            </a:r>
            <a:r>
              <a:rPr lang="en-GB" b="1" dirty="0" err="1"/>
              <a:t>committen</a:t>
            </a:r>
            <a:r>
              <a:rPr lang="en-GB" dirty="0"/>
              <a:t>, </a:t>
            </a:r>
            <a:r>
              <a:rPr lang="en-GB" dirty="0" err="1"/>
              <a:t>auch</a:t>
            </a:r>
            <a:r>
              <a:rPr lang="en-GB" dirty="0"/>
              <a:t> </a:t>
            </a:r>
            <a:r>
              <a:rPr lang="en-GB" dirty="0" err="1"/>
              <a:t>ohne</a:t>
            </a:r>
            <a:r>
              <a:rPr lang="en-GB" dirty="0"/>
              <a:t> Internet. Du </a:t>
            </a:r>
            <a:r>
              <a:rPr lang="en-GB" dirty="0" err="1"/>
              <a:t>kannst</a:t>
            </a:r>
            <a:r>
              <a:rPr lang="en-GB" dirty="0"/>
              <a:t> die Git-</a:t>
            </a:r>
            <a:r>
              <a:rPr lang="en-GB" dirty="0" err="1"/>
              <a:t>Historie</a:t>
            </a:r>
            <a:r>
              <a:rPr lang="en-GB" dirty="0"/>
              <a:t> </a:t>
            </a:r>
            <a:r>
              <a:rPr lang="en-GB" dirty="0" err="1"/>
              <a:t>lokal</a:t>
            </a:r>
            <a:r>
              <a:rPr lang="en-GB" dirty="0"/>
              <a:t> </a:t>
            </a:r>
            <a:r>
              <a:rPr lang="en-GB" dirty="0" err="1"/>
              <a:t>durchsuchen</a:t>
            </a:r>
            <a:r>
              <a:rPr lang="en-GB" dirty="0"/>
              <a:t>. </a:t>
            </a:r>
            <a:r>
              <a:rPr lang="en-GB" dirty="0" err="1"/>
              <a:t>Viele</a:t>
            </a:r>
            <a:r>
              <a:rPr lang="en-GB" dirty="0"/>
              <a:t> </a:t>
            </a:r>
            <a:r>
              <a:rPr lang="en-GB" dirty="0" err="1"/>
              <a:t>Operationen</a:t>
            </a:r>
            <a:r>
              <a:rPr lang="en-GB" dirty="0"/>
              <a:t> (commit, log, diff, Branches etc.) </a:t>
            </a:r>
            <a:r>
              <a:rPr lang="en-GB" dirty="0" err="1"/>
              <a:t>funktionieren</a:t>
            </a:r>
            <a:r>
              <a:rPr lang="en-GB" dirty="0"/>
              <a:t> </a:t>
            </a:r>
            <a:r>
              <a:rPr lang="en-GB" dirty="0" err="1"/>
              <a:t>ohne</a:t>
            </a:r>
            <a:r>
              <a:rPr lang="en-GB" dirty="0"/>
              <a:t> GitHub. </a:t>
            </a:r>
            <a:r>
              <a:rPr lang="en-GB" dirty="0" err="1"/>
              <a:t>Erst</a:t>
            </a:r>
            <a:r>
              <a:rPr lang="en-GB" dirty="0"/>
              <a:t> push </a:t>
            </a:r>
            <a:r>
              <a:rPr lang="en-GB" dirty="0" err="1"/>
              <a:t>bzw</a:t>
            </a:r>
            <a:r>
              <a:rPr lang="en-GB" dirty="0"/>
              <a:t>. pull </a:t>
            </a:r>
            <a:r>
              <a:rPr lang="en-GB" dirty="0" err="1"/>
              <a:t>synchronisieren</a:t>
            </a:r>
            <a:r>
              <a:rPr lang="en-GB" dirty="0"/>
              <a:t> </a:t>
            </a:r>
            <a:r>
              <a:rPr lang="en-GB" dirty="0" err="1"/>
              <a:t>dein</a:t>
            </a:r>
            <a:r>
              <a:rPr lang="en-GB" dirty="0"/>
              <a:t> </a:t>
            </a:r>
            <a:r>
              <a:rPr lang="en-GB" dirty="0" err="1"/>
              <a:t>lokales</a:t>
            </a:r>
            <a:r>
              <a:rPr lang="en-GB" dirty="0"/>
              <a:t> Repository </a:t>
            </a:r>
            <a:r>
              <a:rPr lang="en-GB" dirty="0" err="1"/>
              <a:t>mit</a:t>
            </a:r>
            <a:r>
              <a:rPr lang="en-GB" dirty="0"/>
              <a:t> </a:t>
            </a:r>
            <a:r>
              <a:rPr lang="en-GB" dirty="0" err="1"/>
              <a:t>einem</a:t>
            </a:r>
            <a:r>
              <a:rPr lang="en-GB" dirty="0"/>
              <a:t> </a:t>
            </a:r>
            <a:r>
              <a:rPr lang="en-GB" dirty="0" err="1"/>
              <a:t>anderen</a:t>
            </a:r>
            <a:r>
              <a:rPr lang="en-GB" dirty="0"/>
              <a:t> Repository, z. B. auf GitHub.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0C207E-E753-4508-8D7B-969934C7045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4618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Working Directory</a:t>
            </a:r>
            <a:endParaRPr lang="en-US" altLang="en-US" sz="12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Dein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normaler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Projektordner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in dem du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Dateien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erstellst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und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bearbeitest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Staging Area</a:t>
            </a:r>
            <a:endParaRPr lang="en-US" altLang="en-US" sz="12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Bereich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in dem du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festlegst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welche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Änderungen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 den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nächsten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Commit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aufgenommen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werden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lang="en-US" altLang="en-US" sz="12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Kein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physischer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Ordner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sondern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ein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Konzept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innerhalb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von Git.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Local Repository</a:t>
            </a:r>
            <a:endParaRPr lang="en-US" altLang="en-US" sz="12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Enthält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die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bisherige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Versionsgeschichte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deines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Projekts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– also die Commits, die du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lokal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gespeichert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hast.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0C207E-E753-4508-8D7B-969934C7045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5653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0C207E-E753-4508-8D7B-969934C7045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6030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0C207E-E753-4508-8D7B-969934C7045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508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6953E6-98EB-4BF0-A842-1EDAA890E9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5C58100-8D8F-43AE-94C7-F7623252C4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C5616D6-CBEB-4E65-95BA-65A5F2FAA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1922-584C-4088-ADC5-7905BF8E69C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7469C11-5AC8-4CFE-9A15-6A0EDB091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413A51B-1BBC-437C-84FB-29D366E6C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7754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C1026B-EC6D-40C8-9DDF-C6DBEE935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D7BE811-B016-4704-BF51-C6DB056505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E84D85A-0EC2-4884-9FCD-97F8FC33B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1922-584C-4088-ADC5-7905BF8E69C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BAD4A3C-534C-4392-A09C-64138D0A52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61D044-0458-4607-B0CE-4FC546666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2793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6776D7-8C56-4B8B-880B-C9D0F0A24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1D38658-ACBC-4D19-9E71-102C7753AF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B9D8864-E3E6-4AE7-B698-BF2C0BAF1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1922-584C-4088-ADC5-7905BF8E69C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A91CE02-6067-4665-AEA9-5ED841B75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B263B3D-927A-412B-87B7-3BA1426A8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5255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D40A30-E8F0-47CB-893A-3FDA09B3F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C4BED15-EBE8-4A41-ABE2-8FE018D034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E9AE43F-A1B4-49CC-92A6-D259C94285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F4FEB9E-6767-4B4B-ABE5-AE8173FDF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1922-584C-4088-ADC5-7905BF8E69C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4AF64CB-E9C8-4CBF-B417-7FE39C1B2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C4C4E7D-1083-4D02-90A3-F2BC9375D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3011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6FE23F-7850-4EA5-BAB5-0CEC5B964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CFF0E5F-6BA6-42BF-B0FE-15CA0F089C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5BC8E1B-802C-425F-94D5-B1D745A816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2D65FD7-2A1C-4A4E-81E5-11F73DC3C9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FEFA2C6-D5CA-440E-95B4-A09DE30CC3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3654CAE-8500-4A00-BBD1-3DF657BF9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1922-584C-4088-ADC5-7905BF8E69C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580D363-87E8-40BA-A039-E111C91A82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B3D521B9-7CAB-410F-8D92-B9C570BE2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5523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680C2E-739B-404D-ABA2-15576CA48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336A60-6CB3-4C10-B8B4-B570EB3FDE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1922-584C-4088-ADC5-7905BF8E69C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F08A491-5A9E-4FCE-9437-6B8FDB5C6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FDF20CB-2802-4F4C-8BED-59F74D2BA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5583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45A2457-C9A5-4032-B078-F72D438BB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1922-584C-4088-ADC5-7905BF8E69C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AB62B63-0170-4D42-9078-91C2EA307A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3D75694-587A-4E3C-959A-CCE49419D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276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CA8E27-9F7B-496A-A0BE-E488090EB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BB7254-8E5A-4C22-A85C-62A0A0CE45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C497998-BCC9-46E3-8472-0465A70BC9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0E0B8E8-658E-4749-B90C-902450CF3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1922-584C-4088-ADC5-7905BF8E69C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AB87D3A-64DF-4460-9665-E949D14BE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40884FC-6506-47B8-A3AA-0DE8093FD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005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980BE1-244D-4E9F-A558-AB190418D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4693FEE-3ADB-41A2-8111-1BE02A809F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719E3CB-30D8-46CC-B80F-835C71AA41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72F3F73-411E-485E-B385-DF76C11B5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1922-584C-4088-ADC5-7905BF8E69C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91B121B-575F-4CD0-9036-D41447181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6C5C8F6-F4D8-41B9-A207-1E4076F78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119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17B97B-A7D5-447C-A670-107588755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3C15CD6-0068-4004-AECB-E607314157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8D7A43-68ED-4A4A-A945-1817C630A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1922-584C-4088-ADC5-7905BF8E69C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1128ED7-B79F-4A7F-BA84-8C3BF2571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A63A39D-9A53-42AB-B850-59A2345C9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8547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15968E7A-CCD1-48D6-8323-6A1BB8ECC1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E588F4C-7D54-4D95-A778-EC0B1552EF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CAB3FF0-6670-4C07-9D81-707D39A98D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1922-584C-4088-ADC5-7905BF8E69C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506EC5-67F9-4074-858D-FAC9B898A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CFD697C-27C2-409E-B21F-0977C1988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2681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B7D644B-0F57-48CC-9F6D-5D13C4814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B12BF4A-D196-418E-A2AE-F5DB1B35D3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3F5C64A-2DED-48E8-A5AB-F35B9EF901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C21922-584C-4088-ADC5-7905BF8E69C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36AE5C5-B9D4-4A4A-9202-403E50C381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8373FD2-3BFC-4DD2-84C2-619504F30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430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install/mac" TargetMode="External"/><Relationship Id="rId2" Type="http://schemas.openxmlformats.org/officeDocument/2006/relationships/hyperlink" Target="https://git-scm.com/install/windows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www.github.com/" TargetMode="External"/><Relationship Id="rId4" Type="http://schemas.openxmlformats.org/officeDocument/2006/relationships/hyperlink" Target="https://git-scm.com/install/linux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naa16/github-uebung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git/" TargetMode="External"/><Relationship Id="rId2" Type="http://schemas.openxmlformats.org/officeDocument/2006/relationships/hyperlink" Target="https://education.github.com/git-cheat-sheet-education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skills/introduction-to-github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FBBF96-F0EB-466B-B80B-B04846F877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62436"/>
            <a:ext cx="9144000" cy="2387600"/>
          </a:xfrm>
        </p:spPr>
        <p:txBody>
          <a:bodyPr/>
          <a:lstStyle/>
          <a:p>
            <a:r>
              <a:rPr lang="en-US" dirty="0" err="1"/>
              <a:t>Einführung</a:t>
            </a:r>
            <a:r>
              <a:rPr lang="en-US" dirty="0"/>
              <a:t> in Git und GitHub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AAD805D-BC8B-4C35-888E-FF6D7FC099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242113"/>
            <a:ext cx="9144000" cy="1655762"/>
          </a:xfrm>
        </p:spPr>
        <p:txBody>
          <a:bodyPr/>
          <a:lstStyle/>
          <a:p>
            <a:r>
              <a:rPr lang="en-US" dirty="0"/>
              <a:t>Workshop Retreat 2026</a:t>
            </a:r>
          </a:p>
        </p:txBody>
      </p:sp>
      <p:pic>
        <p:nvPicPr>
          <p:cNvPr id="5" name="Picture 8" descr="GitHub Logo, symbol, meaning, history, PNG, brand">
            <a:extLst>
              <a:ext uri="{FF2B5EF4-FFF2-40B4-BE49-F238E27FC236}">
                <a16:creationId xmlns:a16="http://schemas.microsoft.com/office/drawing/2014/main" id="{1104D2C6-BEC1-48F5-89B7-0167BB40B8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6791" y="4196648"/>
            <a:ext cx="2898417" cy="1626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6456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B56CCA-B6FF-4607-ADE0-B2F87A9D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CE44D2-F6D1-46FC-87B0-22F6DC8C4E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Das am </a:t>
            </a:r>
            <a:r>
              <a:rPr lang="en-US" dirty="0" err="1"/>
              <a:t>meisten</a:t>
            </a:r>
            <a:r>
              <a:rPr lang="en-US" dirty="0"/>
              <a:t> </a:t>
            </a:r>
            <a:r>
              <a:rPr lang="en-US" dirty="0" err="1"/>
              <a:t>benutzte</a:t>
            </a:r>
            <a:r>
              <a:rPr lang="en-US" dirty="0"/>
              <a:t> System </a:t>
            </a:r>
            <a:r>
              <a:rPr lang="en-US" dirty="0" err="1"/>
              <a:t>zur</a:t>
            </a:r>
            <a:r>
              <a:rPr lang="en-US" dirty="0"/>
              <a:t> </a:t>
            </a:r>
            <a:r>
              <a:rPr lang="en-US" dirty="0" err="1"/>
              <a:t>Versionskontrolle</a:t>
            </a:r>
            <a:endParaRPr lang="en-US" dirty="0"/>
          </a:p>
          <a:p>
            <a:r>
              <a:rPr lang="de-DE" dirty="0"/>
              <a:t>Verfolgt Änderungen an Dateien und Projekten</a:t>
            </a:r>
          </a:p>
          <a:p>
            <a:r>
              <a:rPr lang="de-DE" dirty="0"/>
              <a:t>Ermöglicht die </a:t>
            </a:r>
            <a:r>
              <a:rPr lang="de-DE" b="1" dirty="0"/>
              <a:t>gemeinsame Entwicklung </a:t>
            </a:r>
            <a:r>
              <a:rPr lang="de-DE" dirty="0"/>
              <a:t>von Projekten</a:t>
            </a:r>
          </a:p>
          <a:p>
            <a:r>
              <a:rPr lang="de-DE" dirty="0"/>
              <a:t>Macht nachvollziehbar, wer wann welche </a:t>
            </a:r>
            <a:r>
              <a:rPr lang="de-DE" b="1" dirty="0"/>
              <a:t>Änderungen</a:t>
            </a:r>
            <a:r>
              <a:rPr lang="de-DE" dirty="0"/>
              <a:t> vorgenommen hat</a:t>
            </a:r>
          </a:p>
          <a:p>
            <a:r>
              <a:rPr lang="de-DE" dirty="0"/>
              <a:t>Ermöglicht, frühere Versionen eines Projekts wiederherzustellen</a:t>
            </a:r>
          </a:p>
          <a:p>
            <a:r>
              <a:rPr lang="de-DE" dirty="0"/>
              <a:t>Dezentrale Versionskontrolle: Jedes Repository enthält eine lokale Kopie der Versionsgeschichte</a:t>
            </a:r>
          </a:p>
        </p:txBody>
      </p:sp>
    </p:spTree>
    <p:extLst>
      <p:ext uri="{BB962C8B-B14F-4D97-AF65-F5344CB8AC3E}">
        <p14:creationId xmlns:p14="http://schemas.microsoft.com/office/powerpoint/2010/main" val="1835153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B5FA10-6AA5-443C-A075-A0DC1B265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Repositories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EC0348-6655-454B-B9B5-0BD8A1FAD9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Ein Repository enthält alle Projektdateien und deren Versionsgeschichte</a:t>
            </a:r>
          </a:p>
          <a:p>
            <a:r>
              <a:rPr lang="de-DE" dirty="0"/>
              <a:t>Kann lokal auf dem eigenen Rechner oder remote auf einem Server liegen</a:t>
            </a:r>
          </a:p>
          <a:p>
            <a:r>
              <a:rPr lang="de-DE" dirty="0"/>
              <a:t>GitHub ist eine Plattform zum Hosten und gemeinsamen Bearbeiten von </a:t>
            </a:r>
            <a:r>
              <a:rPr lang="de-DE" dirty="0" err="1"/>
              <a:t>Git-Repositories</a:t>
            </a:r>
            <a:endParaRPr lang="de-DE" dirty="0"/>
          </a:p>
          <a:p>
            <a:r>
              <a:rPr lang="de-DE" dirty="0"/>
              <a:t>Das Kopieren eines bestehenden </a:t>
            </a:r>
            <a:r>
              <a:rPr lang="de-DE" dirty="0" err="1"/>
              <a:t>Repositories</a:t>
            </a:r>
            <a:r>
              <a:rPr lang="de-DE" dirty="0"/>
              <a:t> auf den eigenen Rechner nennt man </a:t>
            </a:r>
            <a:r>
              <a:rPr lang="de-DE" b="1" i="1" dirty="0" err="1"/>
              <a:t>Cloning</a:t>
            </a:r>
            <a:endParaRPr lang="de-DE" b="1" i="1" dirty="0"/>
          </a:p>
          <a:p>
            <a:pPr marL="0" indent="0">
              <a:buNone/>
            </a:pPr>
            <a:r>
              <a:rPr lang="en-US" dirty="0"/>
              <a:t>	git clone https://....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31085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260E7B-215E-4F5A-A064-F8175DA0C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 err="1"/>
              <a:t>Git</a:t>
            </a:r>
            <a:r>
              <a:rPr lang="de-DE" dirty="0"/>
              <a:t> ist nicht dasselbe wie GitHub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87F4239-625B-42BD-BFA8-BA5BF051C0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de-DE" dirty="0" err="1"/>
              <a:t>Git</a:t>
            </a:r>
            <a:endParaRPr lang="de-DE" dirty="0"/>
          </a:p>
          <a:p>
            <a:r>
              <a:rPr lang="de-DE" dirty="0"/>
              <a:t>Software zur Versionskontrolle</a:t>
            </a:r>
          </a:p>
          <a:p>
            <a:r>
              <a:rPr lang="de-DE" dirty="0"/>
              <a:t>Verfolgt Änderungen und verwaltet die Versionsgeschichte eines Projekts</a:t>
            </a:r>
          </a:p>
          <a:p>
            <a:endParaRPr lang="de-DE" dirty="0"/>
          </a:p>
          <a:p>
            <a:pPr marL="0" indent="0">
              <a:buNone/>
            </a:pPr>
            <a:r>
              <a:rPr lang="de-DE" dirty="0"/>
              <a:t>GitHub</a:t>
            </a:r>
          </a:p>
          <a:p>
            <a:r>
              <a:rPr lang="de-DE" dirty="0"/>
              <a:t>Webplattform, die </a:t>
            </a:r>
            <a:r>
              <a:rPr lang="de-DE" dirty="0" err="1"/>
              <a:t>Git-Repositories</a:t>
            </a:r>
            <a:r>
              <a:rPr lang="de-DE" dirty="0"/>
              <a:t> </a:t>
            </a:r>
            <a:r>
              <a:rPr lang="de-DE" dirty="0" err="1"/>
              <a:t>hostetErmöglicht</a:t>
            </a:r>
            <a:r>
              <a:rPr lang="de-DE" dirty="0"/>
              <a:t> die Zusammenarbeit und den Austausch von Änderungen</a:t>
            </a:r>
          </a:p>
        </p:txBody>
      </p:sp>
    </p:spTree>
    <p:extLst>
      <p:ext uri="{BB962C8B-B14F-4D97-AF65-F5344CB8AC3E}">
        <p14:creationId xmlns:p14="http://schemas.microsoft.com/office/powerpoint/2010/main" val="2425310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12905B-D940-4C08-90D6-C787FACE2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Snapshots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FA71F12-6635-47CF-99F8-E634CC7C09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Ein Snapshot ist eine Momentaufnahme des Projekts zu einem bestimmten Zeitpunkt</a:t>
            </a:r>
          </a:p>
          <a:p>
            <a:r>
              <a:rPr lang="de-DE" dirty="0"/>
              <a:t>Snapshots halten fest, wie die Dateien zu diesem Zeitpunkt aussahen</a:t>
            </a:r>
          </a:p>
          <a:p>
            <a:r>
              <a:rPr lang="de-DE" dirty="0"/>
              <a:t>Frühere Snapshots können später wieder aufgerufen werden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8131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B9B1B2-BDEC-4DCE-9814-88F12AD56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Commits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26F5D87-CD06-47E3-BFC4-58A959E7A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Ein Commit speichert einen Snapshot des aktuellen Projektzustands</a:t>
            </a:r>
          </a:p>
          <a:p>
            <a:r>
              <a:rPr lang="de-DE" dirty="0"/>
              <a:t>Ein Projekt besteht aus einer Abfolge von </a:t>
            </a:r>
            <a:r>
              <a:rPr lang="de-DE" dirty="0" err="1"/>
              <a:t>Commits</a:t>
            </a:r>
            <a:endParaRPr lang="de-DE" dirty="0"/>
          </a:p>
          <a:p>
            <a:r>
              <a:rPr lang="de-DE" dirty="0"/>
              <a:t>Jeder Commit enthält außerdem Informationen darüber, was geändert wurde und wann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636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B719E5-2FFC-4D47-A177-17ADB3457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Lokale</a:t>
            </a:r>
            <a:r>
              <a:rPr lang="en-US" dirty="0"/>
              <a:t> und remote Repositories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46AFCB6-334F-4C52-9E26-6D255E6F36B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1" y="2091486"/>
            <a:ext cx="10406974" cy="38779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800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Working Directory</a:t>
            </a:r>
            <a:endParaRPr lang="en-US" altLang="en-US" sz="20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Dein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normaler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Projektordner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in dem du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Dateien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erstellst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und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bearbeitest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Staging Area</a:t>
            </a:r>
            <a:endParaRPr lang="en-US" altLang="en-US" sz="20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Bereich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</a:t>
            </a:r>
            <a:r>
              <a:rPr kumimoji="0" lang="en-US" altLang="en-US" sz="20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</a:rPr>
              <a:t> der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Änderungen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 den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nächsten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Commit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enthält</a:t>
            </a:r>
            <a:endParaRPr lang="en-US" altLang="en-US" sz="20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Local Repository</a:t>
            </a:r>
            <a:endParaRPr lang="en-US" altLang="en-US" sz="20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Enthält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die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bisherige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Versionsgeschichte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deines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Projekts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2000" b="1" dirty="0"/>
              <a:t>Remote Repository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Repository auf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z.B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GitHub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712E06A-44BB-457A-B1E8-F9BCC52A8A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1200" y="1990298"/>
            <a:ext cx="6192000" cy="1184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934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23EA48-83DC-4B6C-9249-7E4DDFE82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Pull &amp; Push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460C108-4B60-45C5-8B91-972BE65BCC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/>
              <a:t>Über </a:t>
            </a:r>
            <a:r>
              <a:rPr lang="de-DE" b="1" i="1" dirty="0"/>
              <a:t>push</a:t>
            </a:r>
            <a:r>
              <a:rPr lang="de-DE" dirty="0"/>
              <a:t> und </a:t>
            </a:r>
            <a:r>
              <a:rPr lang="de-DE" b="1" i="1" dirty="0"/>
              <a:t>pull</a:t>
            </a:r>
            <a:r>
              <a:rPr lang="de-DE" dirty="0"/>
              <a:t> werden Änderungen zwischen lokalem und remote Repository ausgetauscht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git pull</a:t>
            </a:r>
          </a:p>
          <a:p>
            <a:r>
              <a:rPr lang="de-DE" dirty="0"/>
              <a:t>Lädt neue Änderungen vom remote Repository herunter</a:t>
            </a:r>
          </a:p>
          <a:p>
            <a:r>
              <a:rPr lang="de-DE" dirty="0"/>
              <a:t>Integriert diese Änderungen in das lokale Repository</a:t>
            </a:r>
          </a:p>
          <a:p>
            <a:endParaRPr lang="de-DE" dirty="0"/>
          </a:p>
          <a:p>
            <a:pPr marL="0" indent="0">
              <a:buNone/>
            </a:pPr>
            <a:r>
              <a:rPr lang="de-DE" dirty="0" err="1"/>
              <a:t>git</a:t>
            </a:r>
            <a:r>
              <a:rPr lang="de-DE" dirty="0"/>
              <a:t> push</a:t>
            </a:r>
          </a:p>
          <a:p>
            <a:r>
              <a:rPr lang="en-GB" dirty="0" err="1"/>
              <a:t>Lädt</a:t>
            </a:r>
            <a:r>
              <a:rPr lang="en-GB" dirty="0"/>
              <a:t> </a:t>
            </a:r>
            <a:r>
              <a:rPr lang="en-GB" dirty="0" err="1"/>
              <a:t>lokale</a:t>
            </a:r>
            <a:r>
              <a:rPr lang="en-GB" dirty="0"/>
              <a:t> Commits in das remote Repository </a:t>
            </a:r>
            <a:r>
              <a:rPr lang="en-GB" dirty="0" err="1"/>
              <a:t>hoch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6592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3B70EF-4952-4FCC-9E2A-056BAF6DD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Die </a:t>
            </a:r>
            <a:r>
              <a:rPr lang="en-US" dirty="0" err="1"/>
              <a:t>wichtigsten</a:t>
            </a:r>
            <a:r>
              <a:rPr lang="en-US" dirty="0"/>
              <a:t> </a:t>
            </a:r>
            <a:r>
              <a:rPr lang="en-US" dirty="0" err="1"/>
              <a:t>Schritte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8D35485-6E7D-40BD-A5AA-AD18412AA7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git add .</a:t>
            </a:r>
            <a:br>
              <a:rPr lang="en-US" dirty="0"/>
            </a:br>
            <a:r>
              <a:rPr lang="de-DE" dirty="0"/>
              <a:t>Fügt die geänderten Dateien zur </a:t>
            </a:r>
            <a:r>
              <a:rPr lang="de-DE" b="1" dirty="0" err="1"/>
              <a:t>Staging</a:t>
            </a:r>
            <a:r>
              <a:rPr lang="de-DE" b="1" dirty="0"/>
              <a:t> Area</a:t>
            </a:r>
            <a:r>
              <a:rPr lang="de-DE" dirty="0"/>
              <a:t> hinzu</a:t>
            </a:r>
            <a:endParaRPr lang="en-US" dirty="0"/>
          </a:p>
          <a:p>
            <a:pPr marL="514350" indent="-514350">
              <a:buAutoNum type="arabicPeriod"/>
            </a:pPr>
            <a:r>
              <a:rPr lang="en-US" dirty="0"/>
              <a:t>git commit –m “…” </a:t>
            </a:r>
            <a:br>
              <a:rPr lang="en-US" dirty="0"/>
            </a:br>
            <a:r>
              <a:rPr lang="de-DE" dirty="0"/>
              <a:t>Erstellt einen </a:t>
            </a:r>
            <a:r>
              <a:rPr lang="de-DE" b="1" dirty="0"/>
              <a:t>Commit</a:t>
            </a:r>
            <a:r>
              <a:rPr lang="de-DE" dirty="0"/>
              <a:t> mit einem aussagekräftigen Kommentar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 err="1"/>
              <a:t>z.B</a:t>
            </a:r>
            <a:r>
              <a:rPr lang="en-US" dirty="0"/>
              <a:t>. “</a:t>
            </a:r>
            <a:r>
              <a:rPr lang="en-US" dirty="0" err="1"/>
              <a:t>Funktion</a:t>
            </a:r>
            <a:r>
              <a:rPr lang="en-US" dirty="0"/>
              <a:t> X </a:t>
            </a:r>
            <a:r>
              <a:rPr lang="en-US" dirty="0" err="1"/>
              <a:t>wurde</a:t>
            </a:r>
            <a:r>
              <a:rPr lang="en-US" dirty="0"/>
              <a:t> </a:t>
            </a:r>
            <a:r>
              <a:rPr lang="en-US" dirty="0" err="1"/>
              <a:t>überarbeitet</a:t>
            </a:r>
            <a:r>
              <a:rPr lang="en-US" dirty="0"/>
              <a:t>”</a:t>
            </a:r>
          </a:p>
          <a:p>
            <a:pPr marL="514350" indent="-514350">
              <a:buAutoNum type="arabicPeriod"/>
            </a:pPr>
            <a:r>
              <a:rPr lang="en-US" dirty="0"/>
              <a:t>git push</a:t>
            </a:r>
            <a:br>
              <a:rPr lang="en-US" dirty="0"/>
            </a:br>
            <a:r>
              <a:rPr lang="en-GB" dirty="0" err="1"/>
              <a:t>Lädt</a:t>
            </a:r>
            <a:r>
              <a:rPr lang="en-GB" dirty="0"/>
              <a:t> den Commit in das remote Repository </a:t>
            </a:r>
            <a:r>
              <a:rPr lang="en-GB" dirty="0" err="1"/>
              <a:t>hoch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0708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0B2A54-7259-48ED-9E45-9C64DD23B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7" name="AutoShape 8" descr="CS400: Git Basic">
            <a:extLst>
              <a:ext uri="{FF2B5EF4-FFF2-40B4-BE49-F238E27FC236}">
                <a16:creationId xmlns:a16="http://schemas.microsoft.com/office/drawing/2014/main" id="{43E4BB96-1EB5-42D8-8A83-F1C8A08925D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" name="Inhaltsplatzhalter 9">
            <a:extLst>
              <a:ext uri="{FF2B5EF4-FFF2-40B4-BE49-F238E27FC236}">
                <a16:creationId xmlns:a16="http://schemas.microsoft.com/office/drawing/2014/main" id="{AFA391A5-E407-43D6-8E22-250DA52348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031677" y="2155040"/>
            <a:ext cx="6128645" cy="36925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319631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3B85BE-0A07-429A-8E4D-0712D341D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95783D3-D835-46E9-9301-7FE7ACB609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Ein Branch ist eine separate Entwicklungslinie innerhalb eines </a:t>
            </a:r>
            <a:r>
              <a:rPr lang="de-DE" dirty="0" err="1"/>
              <a:t>Repositories</a:t>
            </a:r>
            <a:endParaRPr lang="de-DE" dirty="0"/>
          </a:p>
          <a:p>
            <a:r>
              <a:rPr lang="de-DE" dirty="0"/>
              <a:t>Ein Repository kann beliebig viele </a:t>
            </a:r>
            <a:r>
              <a:rPr lang="de-DE" dirty="0" err="1"/>
              <a:t>Branches</a:t>
            </a:r>
            <a:r>
              <a:rPr lang="de-DE" dirty="0"/>
              <a:t> haben</a:t>
            </a:r>
          </a:p>
          <a:p>
            <a:r>
              <a:rPr lang="en-US" dirty="0"/>
              <a:t>Der Haupt-Branch </a:t>
            </a:r>
            <a:r>
              <a:rPr lang="en-US" dirty="0" err="1"/>
              <a:t>heißt</a:t>
            </a:r>
            <a:r>
              <a:rPr lang="en-US" dirty="0"/>
              <a:t> </a:t>
            </a:r>
            <a:r>
              <a:rPr lang="en-US" dirty="0" err="1"/>
              <a:t>meist</a:t>
            </a:r>
            <a:r>
              <a:rPr lang="en-US" dirty="0"/>
              <a:t> </a:t>
            </a:r>
            <a:r>
              <a:rPr lang="en-US" i="1" dirty="0"/>
              <a:t>main </a:t>
            </a:r>
            <a:r>
              <a:rPr lang="en-US" i="1" dirty="0" err="1"/>
              <a:t>oder</a:t>
            </a:r>
            <a:r>
              <a:rPr lang="en-US" i="1" dirty="0"/>
              <a:t> master</a:t>
            </a:r>
          </a:p>
          <a:p>
            <a:r>
              <a:rPr lang="de-DE" dirty="0"/>
              <a:t>Für neue Features oder Änderungen kann ein neuer Branch erstellt werden</a:t>
            </a:r>
          </a:p>
          <a:p>
            <a:r>
              <a:rPr lang="de-DE" dirty="0"/>
              <a:t>Änderungen können anschließend wieder in </a:t>
            </a:r>
            <a:r>
              <a:rPr lang="de-DE" dirty="0" err="1"/>
              <a:t>main</a:t>
            </a:r>
            <a:r>
              <a:rPr lang="de-DE" dirty="0"/>
              <a:t> </a:t>
            </a:r>
            <a:r>
              <a:rPr lang="de-DE" i="1" dirty="0" err="1"/>
              <a:t>gemergt</a:t>
            </a:r>
            <a:r>
              <a:rPr lang="de-DE" dirty="0"/>
              <a:t> werden (</a:t>
            </a:r>
            <a:r>
              <a:rPr lang="de-DE" i="1" dirty="0"/>
              <a:t>pull </a:t>
            </a:r>
            <a:r>
              <a:rPr lang="de-DE" i="1" dirty="0" err="1"/>
              <a:t>requests</a:t>
            </a:r>
            <a:r>
              <a:rPr lang="de-DE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3136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75EB61-551B-41C0-B371-5ED01D18A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Branches overview</a:t>
            </a:r>
          </a:p>
        </p:txBody>
      </p:sp>
      <p:pic>
        <p:nvPicPr>
          <p:cNvPr id="4" name="Inhaltsplatzhalter 3">
            <a:extLst>
              <a:ext uri="{FF2B5EF4-FFF2-40B4-BE49-F238E27FC236}">
                <a16:creationId xmlns:a16="http://schemas.microsoft.com/office/drawing/2014/main" id="{E6A2E127-551A-4FBC-9E7F-0EAA603801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49936" y="1825625"/>
            <a:ext cx="849212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8646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6B5B57-820A-4E0C-A7B6-BBC869718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Hilfreiche</a:t>
            </a:r>
            <a:r>
              <a:rPr lang="en-US" dirty="0"/>
              <a:t> </a:t>
            </a:r>
            <a:r>
              <a:rPr lang="en-US" dirty="0" err="1"/>
              <a:t>Befehle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72AF3BD-72DD-4B16-835E-A261099653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git </a:t>
            </a:r>
            <a:r>
              <a:rPr lang="en-US" dirty="0" err="1"/>
              <a:t>init</a:t>
            </a:r>
            <a:r>
              <a:rPr lang="en-US" dirty="0"/>
              <a:t>			Repository </a:t>
            </a:r>
            <a:r>
              <a:rPr lang="en-US" dirty="0" err="1"/>
              <a:t>einrichten</a:t>
            </a:r>
            <a:r>
              <a:rPr lang="en-US" dirty="0"/>
              <a:t>	</a:t>
            </a:r>
          </a:p>
          <a:p>
            <a:pPr marL="0" indent="0">
              <a:buNone/>
            </a:pPr>
            <a:r>
              <a:rPr lang="en-US" dirty="0"/>
              <a:t>git clone		</a:t>
            </a:r>
            <a:r>
              <a:rPr lang="de-DE" dirty="0"/>
              <a:t>Erstellt eine lokale Kopie eines bestehenden 					</a:t>
            </a:r>
            <a:r>
              <a:rPr lang="de-DE" dirty="0" err="1"/>
              <a:t>Repositories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git add		</a:t>
            </a:r>
            <a:r>
              <a:rPr lang="en-US" dirty="0" err="1"/>
              <a:t>Dateien</a:t>
            </a:r>
            <a:r>
              <a:rPr lang="en-US" dirty="0"/>
              <a:t> zu staging area </a:t>
            </a:r>
            <a:r>
              <a:rPr lang="en-US" dirty="0" err="1"/>
              <a:t>hinzufügen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git commit		</a:t>
            </a:r>
            <a:r>
              <a:rPr lang="en-US" dirty="0" err="1"/>
              <a:t>Dateien</a:t>
            </a:r>
            <a:r>
              <a:rPr lang="en-US" dirty="0"/>
              <a:t> </a:t>
            </a:r>
            <a:r>
              <a:rPr lang="en-US" dirty="0" err="1"/>
              <a:t>committen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git push		</a:t>
            </a:r>
            <a:r>
              <a:rPr lang="de-DE" dirty="0" err="1"/>
              <a:t>Commits</a:t>
            </a:r>
            <a:r>
              <a:rPr lang="de-DE" dirty="0"/>
              <a:t> an das Remote-Repository übertragen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git pull		</a:t>
            </a:r>
            <a:r>
              <a:rPr lang="de-DE" dirty="0"/>
              <a:t>Änderungen aus dem Remote-Repository abrufen</a:t>
            </a:r>
          </a:p>
          <a:p>
            <a:pPr marL="0" indent="0">
              <a:buNone/>
            </a:pPr>
            <a:r>
              <a:rPr lang="en-US" dirty="0"/>
              <a:t>git status		</a:t>
            </a:r>
            <a:r>
              <a:rPr lang="de-DE" dirty="0"/>
              <a:t>Zeigt den aktuellen Status des </a:t>
            </a:r>
            <a:r>
              <a:rPr lang="de-DE" dirty="0" err="1"/>
              <a:t>Repositories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git diff			</a:t>
            </a:r>
            <a:r>
              <a:rPr lang="de-DE" dirty="0"/>
              <a:t>Zeigt die Änderungen seit dem letzten Commit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02572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D4A757-FC7A-4777-847B-68F193497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Wichtig</a:t>
            </a:r>
            <a:r>
              <a:rPr lang="en-US" dirty="0"/>
              <a:t>!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914B58-227E-4303-B794-7F3C51D106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Erst </a:t>
            </a:r>
            <a:r>
              <a:rPr lang="de-DE" dirty="0" err="1"/>
              <a:t>commit</a:t>
            </a:r>
            <a:r>
              <a:rPr lang="de-DE" dirty="0"/>
              <a:t>, dann pull </a:t>
            </a:r>
            <a:r>
              <a:rPr lang="de-DE" dirty="0">
                <a:sym typeface="Wingdings" panose="05000000000000000000" pitchFamily="2" charset="2"/>
              </a:rPr>
              <a:t> kann sonst zu Konflikten führen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Zuerst pull, dann push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/>
              <a:t>Besonders wenn mehrere Personen am selben Repository arbeiten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 err="1"/>
              <a:t>Regelmäßig</a:t>
            </a:r>
            <a:r>
              <a:rPr lang="en-GB" dirty="0"/>
              <a:t> </a:t>
            </a:r>
            <a:r>
              <a:rPr lang="en-GB" dirty="0" err="1"/>
              <a:t>committen</a:t>
            </a: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Vor wichtigen Aktionen: </a:t>
            </a:r>
            <a:r>
              <a:rPr lang="de-DE" dirty="0" err="1"/>
              <a:t>git</a:t>
            </a:r>
            <a:r>
              <a:rPr lang="de-DE" dirty="0"/>
              <a:t> </a:t>
            </a:r>
            <a:r>
              <a:rPr lang="de-DE" dirty="0" err="1"/>
              <a:t>status</a:t>
            </a: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Nicht direkt auf </a:t>
            </a:r>
            <a:r>
              <a:rPr lang="de-DE" dirty="0" err="1"/>
              <a:t>main</a:t>
            </a:r>
            <a:r>
              <a:rPr lang="de-DE" dirty="0"/>
              <a:t> arbeiten, wenn mehrere Personen beteiligt sind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Keine Panik bei Konflikten – </a:t>
            </a:r>
            <a:r>
              <a:rPr lang="de-DE" dirty="0" err="1"/>
              <a:t>Git</a:t>
            </a:r>
            <a:r>
              <a:rPr lang="de-DE" dirty="0"/>
              <a:t> löscht deine Arbeit nicht einfach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31050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25568D-0568-4AB4-9408-A65072691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</a:t>
            </a:r>
            <a:r>
              <a:rPr lang="en-US" dirty="0" err="1"/>
              <a:t>installieren</a:t>
            </a:r>
            <a:r>
              <a:rPr lang="en-US" dirty="0"/>
              <a:t> und GitHub Account </a:t>
            </a:r>
            <a:r>
              <a:rPr lang="en-US" dirty="0" err="1"/>
              <a:t>erstellen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4E002A-3A5A-4929-A759-8FAF2180C8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Windows: </a:t>
            </a:r>
            <a:r>
              <a:rPr lang="en-US" dirty="0">
                <a:hlinkClick r:id="rId2"/>
              </a:rPr>
              <a:t>https://git-scm.com/install/windows</a:t>
            </a:r>
            <a:endParaRPr lang="en-US" dirty="0"/>
          </a:p>
          <a:p>
            <a:r>
              <a:rPr lang="en-US" dirty="0"/>
              <a:t>Mac: </a:t>
            </a:r>
            <a:r>
              <a:rPr lang="en-US" dirty="0">
                <a:hlinkClick r:id="rId3"/>
              </a:rPr>
              <a:t>https://git-scm.com/install/mac</a:t>
            </a:r>
            <a:endParaRPr lang="en-US" dirty="0"/>
          </a:p>
          <a:p>
            <a:r>
              <a:rPr lang="en-US" dirty="0"/>
              <a:t>Linux: </a:t>
            </a:r>
            <a:r>
              <a:rPr lang="en-US" dirty="0">
                <a:hlinkClick r:id="rId4"/>
              </a:rPr>
              <a:t>https://git-scm.com/install/linux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GitHub Account </a:t>
            </a:r>
            <a:r>
              <a:rPr lang="en-US" dirty="0" err="1"/>
              <a:t>kostenlos</a:t>
            </a:r>
            <a:r>
              <a:rPr lang="en-US" dirty="0"/>
              <a:t> </a:t>
            </a:r>
            <a:r>
              <a:rPr lang="en-US" dirty="0" err="1"/>
              <a:t>erstellen</a:t>
            </a:r>
            <a:r>
              <a:rPr lang="en-US" dirty="0"/>
              <a:t> </a:t>
            </a:r>
            <a:r>
              <a:rPr lang="en-US" dirty="0" err="1"/>
              <a:t>unter</a:t>
            </a:r>
            <a:r>
              <a:rPr lang="en-US" dirty="0"/>
              <a:t>: </a:t>
            </a:r>
            <a:r>
              <a:rPr lang="en-US" dirty="0">
                <a:hlinkClick r:id="rId5"/>
              </a:rPr>
              <a:t>www.github.com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59782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9DC6C6-39AE-4AF7-9962-FC26E3C19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Befehle</a:t>
            </a:r>
            <a:r>
              <a:rPr lang="en-US" dirty="0"/>
              <a:t> </a:t>
            </a:r>
            <a:r>
              <a:rPr lang="en-US" dirty="0" err="1"/>
              <a:t>eingeben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BEF6B21-F648-4604-A6AD-EAF96F0D1A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 Windows: Git Bash </a:t>
            </a:r>
            <a:r>
              <a:rPr lang="en-US" dirty="0" err="1"/>
              <a:t>öffnen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Mac/Linux: Terminal </a:t>
            </a:r>
            <a:r>
              <a:rPr lang="en-US" dirty="0" err="1"/>
              <a:t>öffnen</a:t>
            </a:r>
            <a:endParaRPr lang="en-US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F0FD6933-1C73-4949-B912-DDE3782913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3714" y="2388181"/>
            <a:ext cx="9245013" cy="246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43888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2F7293-5794-4385-83C9-8951FA904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Übungsaufgaben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A83CE79-E7ED-4769-BC36-71D16B6BDE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Aufgabe 1</a:t>
            </a:r>
          </a:p>
          <a:p>
            <a:r>
              <a:rPr lang="de-DE" dirty="0"/>
              <a:t>Kopiere die URL des </a:t>
            </a:r>
            <a:r>
              <a:rPr lang="de-DE" dirty="0" err="1"/>
              <a:t>Repositories</a:t>
            </a:r>
            <a:r>
              <a:rPr lang="de-DE" dirty="0"/>
              <a:t> und klone es auf deinen Computer:</a:t>
            </a:r>
            <a:r>
              <a:rPr lang="en-US" dirty="0"/>
              <a:t> </a:t>
            </a:r>
            <a:r>
              <a:rPr lang="en-US" dirty="0">
                <a:hlinkClick r:id="rId3"/>
              </a:rPr>
              <a:t>https://github.com/yanaa16/github-uebung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git clone </a:t>
            </a:r>
            <a:r>
              <a:rPr lang="en-GB" dirty="0"/>
              <a:t>&lt;REPOSITORY-NAME&gt;</a:t>
            </a:r>
          </a:p>
          <a:p>
            <a:r>
              <a:rPr lang="en-US" dirty="0" err="1"/>
              <a:t>Wechsle</a:t>
            </a:r>
            <a:r>
              <a:rPr lang="en-US" dirty="0"/>
              <a:t> </a:t>
            </a:r>
            <a:r>
              <a:rPr lang="de-DE" dirty="0"/>
              <a:t>anschließend in den neuen Ordner:</a:t>
            </a:r>
            <a:endParaRPr lang="en-US" dirty="0"/>
          </a:p>
          <a:p>
            <a:pPr marL="0" indent="0">
              <a:buNone/>
            </a:pPr>
            <a:r>
              <a:rPr lang="en-GB" dirty="0"/>
              <a:t>	cd &lt;REPOSITORY-NAME&gt;</a:t>
            </a:r>
          </a:p>
          <a:p>
            <a:r>
              <a:rPr lang="en-GB" dirty="0"/>
              <a:t>Dort </a:t>
            </a:r>
            <a:r>
              <a:rPr lang="en-GB" dirty="0" err="1"/>
              <a:t>findest</a:t>
            </a:r>
            <a:r>
              <a:rPr lang="en-GB" dirty="0"/>
              <a:t> du die </a:t>
            </a:r>
            <a:r>
              <a:rPr lang="en-GB" dirty="0" err="1"/>
              <a:t>weiteren</a:t>
            </a:r>
            <a:r>
              <a:rPr lang="en-GB" dirty="0"/>
              <a:t> </a:t>
            </a:r>
            <a:r>
              <a:rPr lang="en-GB" dirty="0" err="1"/>
              <a:t>Übungsaufgaben</a:t>
            </a:r>
            <a:r>
              <a:rPr lang="en-GB" dirty="0"/>
              <a:t> </a:t>
            </a:r>
            <a:r>
              <a:rPr lang="en-GB" dirty="0">
                <a:sym typeface="Wingdings" panose="05000000000000000000" pitchFamily="2" charset="2"/>
              </a:rPr>
              <a:t> 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71647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2C29D5-F244-4616-85FE-9BEE2C8F9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Weitere</a:t>
            </a:r>
            <a:r>
              <a:rPr lang="en-US" dirty="0"/>
              <a:t> Links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0F5122-6DF6-414D-B307-C0B5D13CE3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</a:t>
            </a:r>
            <a:r>
              <a:rPr lang="en-US" dirty="0" err="1"/>
              <a:t>Cheatsheet</a:t>
            </a:r>
            <a:r>
              <a:rPr lang="en-US" dirty="0"/>
              <a:t>: </a:t>
            </a:r>
            <a:br>
              <a:rPr lang="en-US" dirty="0"/>
            </a:br>
            <a:r>
              <a:rPr lang="en-US" dirty="0">
                <a:hlinkClick r:id="rId2"/>
              </a:rPr>
              <a:t>https://education.github.com/git-cheat-sheet-education.pdf</a:t>
            </a:r>
            <a:endParaRPr lang="en-US" dirty="0"/>
          </a:p>
          <a:p>
            <a:r>
              <a:rPr lang="en-US" dirty="0"/>
              <a:t>Git Tutorial:</a:t>
            </a:r>
            <a:br>
              <a:rPr lang="en-US" dirty="0"/>
            </a:br>
            <a:r>
              <a:rPr lang="en-US" dirty="0">
                <a:hlinkClick r:id="rId3"/>
              </a:rPr>
              <a:t>https://www.w3schools.com/git/</a:t>
            </a:r>
            <a:r>
              <a:rPr lang="en-US" dirty="0"/>
              <a:t> </a:t>
            </a:r>
          </a:p>
          <a:p>
            <a:r>
              <a:rPr lang="en-US" dirty="0"/>
              <a:t>GitHub Tutorial: </a:t>
            </a:r>
            <a:br>
              <a:rPr lang="en-US" dirty="0"/>
            </a:br>
            <a:r>
              <a:rPr lang="en-US" dirty="0">
                <a:hlinkClick r:id="rId4"/>
              </a:rPr>
              <a:t>https://github.com/skills/introduction-to-github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8619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835</Words>
  <Application>Microsoft Office PowerPoint</Application>
  <PresentationFormat>Breitbild</PresentationFormat>
  <Paragraphs>124</Paragraphs>
  <Slides>18</Slides>
  <Notes>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Wingdings</vt:lpstr>
      <vt:lpstr>Office</vt:lpstr>
      <vt:lpstr>Einführung in Git und GitHub</vt:lpstr>
      <vt:lpstr>Git</vt:lpstr>
      <vt:lpstr>Repositories</vt:lpstr>
      <vt:lpstr>Git ist nicht dasselbe wie GitHub</vt:lpstr>
      <vt:lpstr>Snapshots</vt:lpstr>
      <vt:lpstr>Commits</vt:lpstr>
      <vt:lpstr>Lokale und remote Repositories</vt:lpstr>
      <vt:lpstr>Pull &amp; Push</vt:lpstr>
      <vt:lpstr>Die wichtigsten Schritte</vt:lpstr>
      <vt:lpstr>Overview</vt:lpstr>
      <vt:lpstr>Branches</vt:lpstr>
      <vt:lpstr>Branches overview</vt:lpstr>
      <vt:lpstr>Hilfreiche Befehle</vt:lpstr>
      <vt:lpstr>Wichtig!</vt:lpstr>
      <vt:lpstr>Git installieren und GitHub Account erstellen</vt:lpstr>
      <vt:lpstr>Befehle eingeben</vt:lpstr>
      <vt:lpstr>Übungsaufgaben</vt:lpstr>
      <vt:lpstr>Weitere Links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Einleitung in Git und Github</dc:title>
  <dc:creator>Yana Schwarze</dc:creator>
  <cp:lastModifiedBy>Yana Schwarze</cp:lastModifiedBy>
  <cp:revision>24</cp:revision>
  <dcterms:created xsi:type="dcterms:W3CDTF">2026-08-27T12:55:34Z</dcterms:created>
  <dcterms:modified xsi:type="dcterms:W3CDTF">2026-08-31T11:57:07Z</dcterms:modified>
</cp:coreProperties>
</file>