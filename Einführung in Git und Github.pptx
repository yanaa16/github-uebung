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20"/>
  </p:notesMasterIdLst>
  <p:sldIdLst>
    <p:sldId id="256" r:id="rId2"/>
    <p:sldId id="257" r:id="rId3"/>
    <p:sldId id="259" r:id="rId4"/>
    <p:sldId id="269" r:id="rId5"/>
    <p:sldId id="262" r:id="rId6"/>
    <p:sldId id="263" r:id="rId7"/>
    <p:sldId id="275" r:id="rId8"/>
    <p:sldId id="260" r:id="rId9"/>
    <p:sldId id="265" r:id="rId10"/>
    <p:sldId id="258" r:id="rId11"/>
    <p:sldId id="261" r:id="rId12"/>
    <p:sldId id="264" r:id="rId13"/>
    <p:sldId id="270" r:id="rId14"/>
    <p:sldId id="271" r:id="rId15"/>
    <p:sldId id="266" r:id="rId16"/>
    <p:sldId id="272" r:id="rId17"/>
    <p:sldId id="268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351" autoAdjust="0"/>
  </p:normalViewPr>
  <p:slideViewPr>
    <p:cSldViewPr snapToGrid="0">
      <p:cViewPr varScale="1">
        <p:scale>
          <a:sx n="57" d="100"/>
          <a:sy n="57" d="100"/>
        </p:scale>
        <p:origin x="10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DC990-979D-4B1C-8AB2-0432C149ACE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C207E-E753-4508-8D7B-969934C7045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3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die Praxis, Änderungen am Softwarecode zu verfolgen und zu verwalten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Bei einer </a:t>
            </a:r>
            <a:r>
              <a:rPr lang="de-DE" b="1" dirty="0"/>
              <a:t>dezentralen (</a:t>
            </a:r>
            <a:r>
              <a:rPr lang="de-DE" b="1" dirty="0" err="1"/>
              <a:t>distributed</a:t>
            </a:r>
            <a:r>
              <a:rPr lang="de-DE" b="1" dirty="0"/>
              <a:t>) Versionskontrolle</a:t>
            </a:r>
            <a:r>
              <a:rPr lang="de-DE" dirty="0"/>
              <a:t> hat nicht nur ein zentraler Server die Versionsgeschichte, sondern </a:t>
            </a:r>
            <a:r>
              <a:rPr lang="de-DE" b="1" dirty="0"/>
              <a:t>jede Person hat lokal eine vollständige Kopie des </a:t>
            </a:r>
            <a:r>
              <a:rPr lang="de-DE" b="1" dirty="0" err="1"/>
              <a:t>Git-Repositories</a:t>
            </a:r>
            <a:r>
              <a:rPr lang="de-DE" b="1" dirty="0"/>
              <a:t> inklusive Historie</a:t>
            </a:r>
            <a:r>
              <a:rPr lang="de-DE" dirty="0"/>
              <a:t>.</a:t>
            </a:r>
          </a:p>
          <a:p>
            <a:r>
              <a:rPr lang="en-GB" dirty="0"/>
              <a:t>Du </a:t>
            </a:r>
            <a:r>
              <a:rPr lang="en-GB" dirty="0" err="1"/>
              <a:t>kannst</a:t>
            </a:r>
            <a:r>
              <a:rPr lang="en-GB" dirty="0"/>
              <a:t> </a:t>
            </a:r>
            <a:r>
              <a:rPr lang="en-GB" b="1" dirty="0" err="1"/>
              <a:t>lokal</a:t>
            </a:r>
            <a:r>
              <a:rPr lang="en-GB" b="1" dirty="0"/>
              <a:t> </a:t>
            </a:r>
            <a:r>
              <a:rPr lang="en-GB" b="1" dirty="0" err="1"/>
              <a:t>committen</a:t>
            </a:r>
            <a:r>
              <a:rPr lang="en-GB" dirty="0"/>
              <a:t>,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ohne</a:t>
            </a:r>
            <a:r>
              <a:rPr lang="en-GB" dirty="0"/>
              <a:t> Internet. Du </a:t>
            </a:r>
            <a:r>
              <a:rPr lang="en-GB" dirty="0" err="1"/>
              <a:t>kannst</a:t>
            </a:r>
            <a:r>
              <a:rPr lang="en-GB" dirty="0"/>
              <a:t> die Git-</a:t>
            </a:r>
            <a:r>
              <a:rPr lang="en-GB" dirty="0" err="1"/>
              <a:t>Historie</a:t>
            </a:r>
            <a:r>
              <a:rPr lang="en-GB" dirty="0"/>
              <a:t> </a:t>
            </a:r>
            <a:r>
              <a:rPr lang="en-GB" dirty="0" err="1"/>
              <a:t>lokal</a:t>
            </a:r>
            <a:r>
              <a:rPr lang="en-GB" dirty="0"/>
              <a:t> </a:t>
            </a:r>
            <a:r>
              <a:rPr lang="en-GB" dirty="0" err="1"/>
              <a:t>durchsuchen</a:t>
            </a:r>
            <a:r>
              <a:rPr lang="en-GB" dirty="0"/>
              <a:t>. </a:t>
            </a:r>
            <a:r>
              <a:rPr lang="en-GB" dirty="0" err="1"/>
              <a:t>Viele</a:t>
            </a:r>
            <a:r>
              <a:rPr lang="en-GB" dirty="0"/>
              <a:t> </a:t>
            </a:r>
            <a:r>
              <a:rPr lang="en-GB" dirty="0" err="1"/>
              <a:t>Operationen</a:t>
            </a:r>
            <a:r>
              <a:rPr lang="en-GB" dirty="0"/>
              <a:t> (commit, log, diff, Branches etc.) </a:t>
            </a:r>
            <a:r>
              <a:rPr lang="en-GB" dirty="0" err="1"/>
              <a:t>funktionieren</a:t>
            </a:r>
            <a:r>
              <a:rPr lang="en-GB" dirty="0"/>
              <a:t> </a:t>
            </a:r>
            <a:r>
              <a:rPr lang="en-GB" dirty="0" err="1"/>
              <a:t>ohne</a:t>
            </a:r>
            <a:r>
              <a:rPr lang="en-GB" dirty="0"/>
              <a:t> GitHub. </a:t>
            </a:r>
            <a:r>
              <a:rPr lang="en-GB" dirty="0" err="1"/>
              <a:t>Erst</a:t>
            </a:r>
            <a:r>
              <a:rPr lang="en-GB" dirty="0"/>
              <a:t> push </a:t>
            </a:r>
            <a:r>
              <a:rPr lang="en-GB" dirty="0" err="1"/>
              <a:t>bzw</a:t>
            </a:r>
            <a:r>
              <a:rPr lang="en-GB" dirty="0"/>
              <a:t>. pull </a:t>
            </a:r>
            <a:r>
              <a:rPr lang="en-GB" dirty="0" err="1"/>
              <a:t>synchronisieren</a:t>
            </a:r>
            <a:r>
              <a:rPr lang="en-GB" dirty="0"/>
              <a:t> </a:t>
            </a:r>
            <a:r>
              <a:rPr lang="en-GB" dirty="0" err="1"/>
              <a:t>dein</a:t>
            </a:r>
            <a:r>
              <a:rPr lang="en-GB" dirty="0"/>
              <a:t> </a:t>
            </a:r>
            <a:r>
              <a:rPr lang="en-GB" dirty="0" err="1"/>
              <a:t>lokales</a:t>
            </a:r>
            <a:r>
              <a:rPr lang="en-GB" dirty="0"/>
              <a:t> Repository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einem</a:t>
            </a:r>
            <a:r>
              <a:rPr lang="en-GB" dirty="0"/>
              <a:t> </a:t>
            </a:r>
            <a:r>
              <a:rPr lang="en-GB" dirty="0" err="1"/>
              <a:t>anderen</a:t>
            </a:r>
            <a:r>
              <a:rPr lang="en-GB" dirty="0"/>
              <a:t> Repository, z. B. auf GitHub.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C207E-E753-4508-8D7B-969934C704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6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Working Directory</a:t>
            </a:r>
            <a:endParaRPr lang="en-US" altLang="en-US" sz="12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normaler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Projektordner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 dem du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Dateien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erstellst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bearbeitest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Staging Area</a:t>
            </a:r>
            <a:endParaRPr lang="en-US" altLang="en-US" sz="12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Bereich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 dem du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festlegst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welche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Änderungen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den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nächsten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Commit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aufgenommen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werden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en-US" altLang="en-US" sz="12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physischer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Ordner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sondern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Konzept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innerhalb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von Git.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Local Repository</a:t>
            </a:r>
            <a:endParaRPr lang="en-US" altLang="en-US" sz="12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Enthält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bisherige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Versionsgeschichte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deines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also die Commits, die du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lokal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gespeichert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hast.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C207E-E753-4508-8D7B-969934C704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65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C207E-E753-4508-8D7B-969934C704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03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C207E-E753-4508-8D7B-969934C704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50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72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7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71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2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0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9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6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8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9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17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0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C21922-584C-4088-ADC5-7905BF8E69C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5B5AE7-5E9D-4D00-B2AD-88C850671C57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11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install/mac" TargetMode="External"/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github.com/" TargetMode="External"/><Relationship Id="rId4" Type="http://schemas.openxmlformats.org/officeDocument/2006/relationships/hyperlink" Target="https://git-scm.com/install/linux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naa16/github-uebu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git/" TargetMode="External"/><Relationship Id="rId2" Type="http://schemas.openxmlformats.org/officeDocument/2006/relationships/hyperlink" Target="https://education.github.com/git-cheat-sheet-educatio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kills/introduction-to-githu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BBF96-F0EB-466B-B80B-B04846F87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710290"/>
            <a:ext cx="9144000" cy="2387600"/>
          </a:xfrm>
        </p:spPr>
        <p:txBody>
          <a:bodyPr/>
          <a:lstStyle/>
          <a:p>
            <a:r>
              <a:rPr lang="en-US" dirty="0" err="1"/>
              <a:t>Einführung</a:t>
            </a:r>
            <a:r>
              <a:rPr lang="en-US" dirty="0"/>
              <a:t> in </a:t>
            </a:r>
            <a:br>
              <a:rPr lang="en-US" dirty="0"/>
            </a:br>
            <a:r>
              <a:rPr lang="en-US" dirty="0"/>
              <a:t>Git und GitHub</a:t>
            </a:r>
          </a:p>
        </p:txBody>
      </p:sp>
      <p:pic>
        <p:nvPicPr>
          <p:cNvPr id="5" name="Picture 8" descr="GitHub Logo, symbol, meaning, history, PNG, brand">
            <a:extLst>
              <a:ext uri="{FF2B5EF4-FFF2-40B4-BE49-F238E27FC236}">
                <a16:creationId xmlns:a16="http://schemas.microsoft.com/office/drawing/2014/main" id="{1104D2C6-BEC1-48F5-89B7-0167BB40B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791" y="4469026"/>
            <a:ext cx="2898417" cy="162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Untertitel 5">
            <a:extLst>
              <a:ext uri="{FF2B5EF4-FFF2-40B4-BE49-F238E27FC236}">
                <a16:creationId xmlns:a16="http://schemas.microsoft.com/office/drawing/2014/main" id="{ACEBE29A-3D32-43B8-BFE7-0EF37453A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834764"/>
            <a:ext cx="10058400" cy="1143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5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56CCA-B6FF-4607-ADE0-B2F87A9D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CE44D2-F6D1-46FC-87B0-22F6DC8C4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Das am </a:t>
            </a:r>
            <a:r>
              <a:rPr lang="en-US" dirty="0" err="1"/>
              <a:t>meisten</a:t>
            </a:r>
            <a:r>
              <a:rPr lang="en-US" dirty="0"/>
              <a:t> </a:t>
            </a:r>
            <a:r>
              <a:rPr lang="en-US" dirty="0" err="1"/>
              <a:t>benutzte</a:t>
            </a:r>
            <a:r>
              <a:rPr lang="en-US" dirty="0"/>
              <a:t> System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Versionskontrolle</a:t>
            </a:r>
            <a:endParaRPr lang="en-US" dirty="0"/>
          </a:p>
          <a:p>
            <a:r>
              <a:rPr lang="de-DE" dirty="0"/>
              <a:t>Verfolgt Änderungen an Dateien und Projekten</a:t>
            </a:r>
          </a:p>
          <a:p>
            <a:r>
              <a:rPr lang="de-DE" dirty="0"/>
              <a:t>Ermöglicht die </a:t>
            </a:r>
            <a:r>
              <a:rPr lang="de-DE" b="1" dirty="0"/>
              <a:t>gemeinsame Entwicklung </a:t>
            </a:r>
            <a:r>
              <a:rPr lang="de-DE" dirty="0"/>
              <a:t>von Projekten</a:t>
            </a:r>
          </a:p>
          <a:p>
            <a:r>
              <a:rPr lang="de-DE" dirty="0"/>
              <a:t>Macht nachvollziehbar, wer wann welche </a:t>
            </a:r>
            <a:r>
              <a:rPr lang="de-DE" b="1" dirty="0"/>
              <a:t>Änderungen</a:t>
            </a:r>
            <a:r>
              <a:rPr lang="de-DE" dirty="0"/>
              <a:t> vorgenommen hat</a:t>
            </a:r>
          </a:p>
          <a:p>
            <a:r>
              <a:rPr lang="de-DE" dirty="0"/>
              <a:t>Ermöglicht, frühere Versionen eines Projekts wiederherzustellen</a:t>
            </a:r>
          </a:p>
          <a:p>
            <a:r>
              <a:rPr lang="de-DE" dirty="0"/>
              <a:t>Dezentrale Versionskontrolle: Jedes Repository enthält eine lokale Kopie der Versionsgeschichte</a:t>
            </a:r>
          </a:p>
        </p:txBody>
      </p:sp>
    </p:spTree>
    <p:extLst>
      <p:ext uri="{BB962C8B-B14F-4D97-AF65-F5344CB8AC3E}">
        <p14:creationId xmlns:p14="http://schemas.microsoft.com/office/powerpoint/2010/main" val="183515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5FA10-6AA5-443C-A075-A0DC1B26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Repositories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C0348-6655-454B-B9B5-0BD8A1FAD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Ein Repository enthält alle Projektdateien und deren Versionsgeschichte</a:t>
            </a:r>
          </a:p>
          <a:p>
            <a:r>
              <a:rPr lang="de-DE" dirty="0"/>
              <a:t>Kann lokal auf dem eigenen Rechner oder remote auf einem Server liegen</a:t>
            </a:r>
          </a:p>
          <a:p>
            <a:r>
              <a:rPr lang="de-DE" dirty="0"/>
              <a:t>GitHub ist eine Plattform zum Hosten und gemeinsamen Bearbeiten von </a:t>
            </a:r>
            <a:r>
              <a:rPr lang="de-DE" dirty="0" err="1"/>
              <a:t>Git-Repositories</a:t>
            </a:r>
            <a:endParaRPr lang="de-DE" dirty="0"/>
          </a:p>
          <a:p>
            <a:r>
              <a:rPr lang="de-DE" dirty="0"/>
              <a:t>Das Kopieren eines bestehenden </a:t>
            </a:r>
            <a:r>
              <a:rPr lang="de-DE" dirty="0" err="1"/>
              <a:t>Repositories</a:t>
            </a:r>
            <a:r>
              <a:rPr lang="de-DE" dirty="0"/>
              <a:t> auf den eigenen Rechner nennt man </a:t>
            </a:r>
            <a:r>
              <a:rPr lang="de-DE" b="1" i="1" dirty="0" err="1"/>
              <a:t>Cloning</a:t>
            </a:r>
            <a:endParaRPr lang="de-DE" b="1" i="1" dirty="0"/>
          </a:p>
          <a:p>
            <a:pPr marL="0" indent="0">
              <a:buNone/>
            </a:pPr>
            <a:r>
              <a:rPr lang="en-US" dirty="0"/>
              <a:t>	git clone https://....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108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260E7B-215E-4F5A-A064-F8175DA0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 ist nicht dasselbe wie GitHub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7F4239-625B-42BD-BFA8-BA5BF051C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Git</a:t>
            </a:r>
            <a:endParaRPr lang="de-DE" dirty="0"/>
          </a:p>
          <a:p>
            <a:r>
              <a:rPr lang="de-DE" dirty="0"/>
              <a:t>Software zur Versionskontrolle</a:t>
            </a:r>
          </a:p>
          <a:p>
            <a:r>
              <a:rPr lang="de-DE" dirty="0"/>
              <a:t>Verfolgt Änderungen und verwaltet die Versionsgeschichte eines Projekts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GitHub</a:t>
            </a:r>
          </a:p>
          <a:p>
            <a:r>
              <a:rPr lang="de-DE" dirty="0"/>
              <a:t>Webplattform, die </a:t>
            </a:r>
            <a:r>
              <a:rPr lang="de-DE" dirty="0" err="1"/>
              <a:t>Git-Repositories</a:t>
            </a:r>
            <a:r>
              <a:rPr lang="de-DE" dirty="0"/>
              <a:t> hostet</a:t>
            </a:r>
          </a:p>
          <a:p>
            <a:r>
              <a:rPr lang="de-DE" dirty="0"/>
              <a:t>Ermöglicht die Zusammenarbeit und den Austausch von Änderungen</a:t>
            </a:r>
          </a:p>
        </p:txBody>
      </p:sp>
    </p:spTree>
    <p:extLst>
      <p:ext uri="{BB962C8B-B14F-4D97-AF65-F5344CB8AC3E}">
        <p14:creationId xmlns:p14="http://schemas.microsoft.com/office/powerpoint/2010/main" val="242531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12905B-D940-4C08-90D6-C787FACE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A71F12-6635-47CF-99F8-E634CC7C0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Snapshot ist eine Momentaufnahme des Projekts zu einem bestimmten Zeitpunkt</a:t>
            </a:r>
          </a:p>
          <a:p>
            <a:r>
              <a:rPr lang="de-DE" dirty="0"/>
              <a:t>Snapshots halten fest, wie die Dateien zu diesem Zeitpunkt aussahen</a:t>
            </a:r>
          </a:p>
          <a:p>
            <a:r>
              <a:rPr lang="de-DE" dirty="0"/>
              <a:t>Frühere Snapshots können später wieder aufgerufen werden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13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9B1B2-BDEC-4DCE-9814-88F12AD56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6F5D87-CD06-47E3-BFC4-58A959E7A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Commit speichert einen Snapshot des aktuellen Projektzustands</a:t>
            </a:r>
          </a:p>
          <a:p>
            <a:r>
              <a:rPr lang="de-DE" dirty="0"/>
              <a:t>Ein Projekt besteht aus einer Abfolge von </a:t>
            </a:r>
            <a:r>
              <a:rPr lang="de-DE" dirty="0" err="1"/>
              <a:t>Commits</a:t>
            </a:r>
            <a:endParaRPr lang="de-DE" dirty="0"/>
          </a:p>
          <a:p>
            <a:r>
              <a:rPr lang="de-DE" dirty="0"/>
              <a:t>Jeder Commit enthält außerdem Informationen darüber, was geändert wurde und wann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3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B719E5-2FFC-4D47-A177-17ADB345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Lokale</a:t>
            </a:r>
            <a:r>
              <a:rPr lang="en-US" dirty="0"/>
              <a:t> und remote Repositories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6AFCB6-334F-4C52-9E26-6D255E6F36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091486"/>
            <a:ext cx="10406974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Working Directory</a:t>
            </a: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normaler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Projektordner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 dem du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Dateien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erstellst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bearbeitest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Staging Area</a:t>
            </a: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Bereich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der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Änderungen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den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nächsten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Commit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enthält</a:t>
            </a: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Local Repository</a:t>
            </a: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Enthält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bisherige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Versionsgeschichte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deines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/>
              <a:t>Remote Repository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Repository auf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z.B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GitHub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712E06A-44BB-457A-B1E8-F9BCC52A8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200" y="1990298"/>
            <a:ext cx="6192000" cy="118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3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3EA48-83DC-4B6C-9249-7E4DDFE8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&amp; Push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60C108-4B60-45C5-8B91-972BE65BC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Über </a:t>
            </a:r>
            <a:r>
              <a:rPr lang="de-DE" b="1" i="1" dirty="0"/>
              <a:t>push</a:t>
            </a:r>
            <a:r>
              <a:rPr lang="de-DE" dirty="0"/>
              <a:t> und </a:t>
            </a:r>
            <a:r>
              <a:rPr lang="de-DE" b="1" i="1" dirty="0"/>
              <a:t>pull</a:t>
            </a:r>
            <a:r>
              <a:rPr lang="de-DE" dirty="0"/>
              <a:t> werden Änderungen zwischen lokalem und remote Repository ausgetauscht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git pull</a:t>
            </a:r>
          </a:p>
          <a:p>
            <a:r>
              <a:rPr lang="de-DE" dirty="0"/>
              <a:t>Lädt neue Änderungen vom remote Repository herunter</a:t>
            </a:r>
          </a:p>
          <a:p>
            <a:r>
              <a:rPr lang="de-DE" dirty="0"/>
              <a:t>Integriert diese Änderungen in das lokale Repository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 err="1"/>
              <a:t>git</a:t>
            </a:r>
            <a:r>
              <a:rPr lang="de-DE" dirty="0"/>
              <a:t> push</a:t>
            </a:r>
          </a:p>
          <a:p>
            <a:r>
              <a:rPr lang="en-GB" dirty="0" err="1"/>
              <a:t>Lädt</a:t>
            </a:r>
            <a:r>
              <a:rPr lang="en-GB" dirty="0"/>
              <a:t> </a:t>
            </a:r>
            <a:r>
              <a:rPr lang="en-GB" dirty="0" err="1"/>
              <a:t>lokale</a:t>
            </a:r>
            <a:r>
              <a:rPr lang="en-GB" dirty="0"/>
              <a:t> Commits in das remote Repository </a:t>
            </a:r>
            <a:r>
              <a:rPr lang="en-GB" dirty="0" err="1"/>
              <a:t>hoch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59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3B70EF-4952-4FCC-9E2A-056BAF6DD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Die </a:t>
            </a:r>
            <a:r>
              <a:rPr lang="en-US" dirty="0" err="1"/>
              <a:t>wichtigsten</a:t>
            </a:r>
            <a:r>
              <a:rPr lang="en-US" dirty="0"/>
              <a:t> </a:t>
            </a:r>
            <a:r>
              <a:rPr lang="en-US" dirty="0" err="1"/>
              <a:t>Schritte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D35485-6E7D-40BD-A5AA-AD18412AA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git add .</a:t>
            </a:r>
            <a:br>
              <a:rPr lang="en-US" dirty="0"/>
            </a:br>
            <a:r>
              <a:rPr lang="de-DE" dirty="0"/>
              <a:t>Fügt die geänderten Dateien zur </a:t>
            </a:r>
            <a:r>
              <a:rPr lang="de-DE" b="1" dirty="0" err="1"/>
              <a:t>Staging</a:t>
            </a:r>
            <a:r>
              <a:rPr lang="de-DE" b="1" dirty="0"/>
              <a:t> Area</a:t>
            </a:r>
            <a:r>
              <a:rPr lang="de-DE" dirty="0"/>
              <a:t> hinzu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git commit –m “…” </a:t>
            </a:r>
            <a:br>
              <a:rPr lang="en-US" dirty="0"/>
            </a:br>
            <a:r>
              <a:rPr lang="de-DE" dirty="0"/>
              <a:t>Erstellt einen </a:t>
            </a:r>
            <a:r>
              <a:rPr lang="de-DE" b="1" dirty="0"/>
              <a:t>Commit</a:t>
            </a:r>
            <a:r>
              <a:rPr lang="de-DE" dirty="0"/>
              <a:t> mit einem aussagekräftigen Kommentar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z.B</a:t>
            </a:r>
            <a:r>
              <a:rPr lang="en-US" dirty="0"/>
              <a:t>. “</a:t>
            </a:r>
            <a:r>
              <a:rPr lang="en-US" dirty="0" err="1"/>
              <a:t>Funktion</a:t>
            </a:r>
            <a:r>
              <a:rPr lang="en-US" dirty="0"/>
              <a:t> X </a:t>
            </a:r>
            <a:r>
              <a:rPr lang="en-US" dirty="0" err="1"/>
              <a:t>wurde</a:t>
            </a:r>
            <a:r>
              <a:rPr lang="en-US" dirty="0"/>
              <a:t> </a:t>
            </a:r>
            <a:r>
              <a:rPr lang="en-US" dirty="0" err="1"/>
              <a:t>überarbeitet</a:t>
            </a:r>
            <a:r>
              <a:rPr lang="en-US" dirty="0"/>
              <a:t>”</a:t>
            </a:r>
          </a:p>
          <a:p>
            <a:pPr marL="514350" indent="-514350">
              <a:buAutoNum type="arabicPeriod"/>
            </a:pPr>
            <a:r>
              <a:rPr lang="en-US" dirty="0"/>
              <a:t>git push</a:t>
            </a:r>
            <a:br>
              <a:rPr lang="en-US" dirty="0"/>
            </a:br>
            <a:r>
              <a:rPr lang="en-GB" dirty="0" err="1"/>
              <a:t>Lädt</a:t>
            </a:r>
            <a:r>
              <a:rPr lang="en-GB" dirty="0"/>
              <a:t> den Commit in das remote Repository </a:t>
            </a:r>
            <a:r>
              <a:rPr lang="en-GB" dirty="0" err="1"/>
              <a:t>hoch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70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0B2A54-7259-48ED-9E45-9C64DD23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AFA391A5-E407-43D6-8E22-250DA5234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7802" y="1846263"/>
            <a:ext cx="667672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8" descr="CS400: Git Basic">
            <a:extLst>
              <a:ext uri="{FF2B5EF4-FFF2-40B4-BE49-F238E27FC236}">
                <a16:creationId xmlns:a16="http://schemas.microsoft.com/office/drawing/2014/main" id="{43E4BB96-1EB5-42D8-8A83-F1C8A0892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63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3B85BE-0A07-429A-8E4D-0712D341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5783D3-D835-46E9-9301-7FE7ACB6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Branch ist eine separate Entwicklungslinie innerhalb eines </a:t>
            </a:r>
            <a:r>
              <a:rPr lang="de-DE" dirty="0" err="1"/>
              <a:t>Repositories</a:t>
            </a:r>
            <a:endParaRPr lang="de-DE" dirty="0"/>
          </a:p>
          <a:p>
            <a:r>
              <a:rPr lang="de-DE" dirty="0"/>
              <a:t>Ein Repository kann beliebig viele </a:t>
            </a:r>
            <a:r>
              <a:rPr lang="de-DE" dirty="0" err="1"/>
              <a:t>Branches</a:t>
            </a:r>
            <a:r>
              <a:rPr lang="de-DE" dirty="0"/>
              <a:t> haben</a:t>
            </a:r>
          </a:p>
          <a:p>
            <a:r>
              <a:rPr lang="en-US" dirty="0"/>
              <a:t>Der Haupt-Branch </a:t>
            </a:r>
            <a:r>
              <a:rPr lang="en-US" dirty="0" err="1"/>
              <a:t>heißt</a:t>
            </a:r>
            <a:r>
              <a:rPr lang="en-US" dirty="0"/>
              <a:t> </a:t>
            </a:r>
            <a:r>
              <a:rPr lang="en-US" dirty="0" err="1"/>
              <a:t>meist</a:t>
            </a:r>
            <a:r>
              <a:rPr lang="en-US" dirty="0"/>
              <a:t> </a:t>
            </a:r>
            <a:r>
              <a:rPr lang="en-US" i="1" dirty="0"/>
              <a:t>main </a:t>
            </a:r>
            <a:r>
              <a:rPr lang="en-US" i="1" dirty="0" err="1"/>
              <a:t>oder</a:t>
            </a:r>
            <a:r>
              <a:rPr lang="en-US" i="1" dirty="0"/>
              <a:t> master</a:t>
            </a:r>
          </a:p>
          <a:p>
            <a:r>
              <a:rPr lang="de-DE" dirty="0"/>
              <a:t>Für neue Features oder Änderungen kann ein neuer Branch erstellt werden</a:t>
            </a:r>
          </a:p>
          <a:p>
            <a:r>
              <a:rPr lang="de-DE" dirty="0"/>
              <a:t>Änderungen können anschließend wieder in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i="1" dirty="0" err="1"/>
              <a:t>gemergt</a:t>
            </a:r>
            <a:r>
              <a:rPr lang="de-DE" dirty="0"/>
              <a:t> werden (</a:t>
            </a:r>
            <a:r>
              <a:rPr lang="de-DE" i="1" dirty="0"/>
              <a:t>pull </a:t>
            </a:r>
            <a:r>
              <a:rPr lang="de-DE" i="1" dirty="0" err="1"/>
              <a:t>requests</a:t>
            </a:r>
            <a:r>
              <a:rPr lang="de-DE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13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5EB61-551B-41C0-B371-5ED01D18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 overview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E6A2E127-551A-4FBC-9E7F-0EAA60380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0762" y="1846263"/>
            <a:ext cx="785080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64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B5B57-820A-4E0C-A7B6-BBC86971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Hilfreiche</a:t>
            </a:r>
            <a:r>
              <a:rPr lang="en-US" dirty="0"/>
              <a:t> </a:t>
            </a:r>
            <a:r>
              <a:rPr lang="en-US" dirty="0" err="1"/>
              <a:t>Befehle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2AF3BD-72DD-4B16-835E-A26109965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git </a:t>
            </a:r>
            <a:r>
              <a:rPr lang="en-US" dirty="0" err="1"/>
              <a:t>init</a:t>
            </a:r>
            <a:r>
              <a:rPr lang="en-US" dirty="0"/>
              <a:t>		Repository </a:t>
            </a:r>
            <a:r>
              <a:rPr lang="en-US" dirty="0" err="1"/>
              <a:t>einrichten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git clone		</a:t>
            </a:r>
            <a:r>
              <a:rPr lang="de-DE" dirty="0"/>
              <a:t>Erstellt eine lokale Kopie eines bestehenden </a:t>
            </a:r>
            <a:r>
              <a:rPr lang="de-DE" dirty="0" err="1"/>
              <a:t>Repositories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add		</a:t>
            </a:r>
            <a:r>
              <a:rPr lang="en-US" dirty="0" err="1"/>
              <a:t>Dateien</a:t>
            </a:r>
            <a:r>
              <a:rPr lang="en-US" dirty="0"/>
              <a:t> zu staging area </a:t>
            </a:r>
            <a:r>
              <a:rPr lang="en-US" dirty="0" err="1"/>
              <a:t>hinzufügen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commit	</a:t>
            </a:r>
            <a:r>
              <a:rPr lang="en-US" dirty="0" err="1"/>
              <a:t>Dateien</a:t>
            </a:r>
            <a:r>
              <a:rPr lang="en-US" dirty="0"/>
              <a:t> </a:t>
            </a:r>
            <a:r>
              <a:rPr lang="en-US" dirty="0" err="1"/>
              <a:t>committen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push		</a:t>
            </a:r>
            <a:r>
              <a:rPr lang="de-DE" dirty="0" err="1"/>
              <a:t>Commits</a:t>
            </a:r>
            <a:r>
              <a:rPr lang="de-DE" dirty="0"/>
              <a:t> an das Remote-Repository übertragen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pull		</a:t>
            </a:r>
            <a:r>
              <a:rPr lang="de-DE" dirty="0"/>
              <a:t>Änderungen aus dem Remote-Repository abrufen</a:t>
            </a:r>
          </a:p>
          <a:p>
            <a:pPr marL="0" indent="0">
              <a:buNone/>
            </a:pPr>
            <a:r>
              <a:rPr lang="en-US" dirty="0"/>
              <a:t>git status		</a:t>
            </a:r>
            <a:r>
              <a:rPr lang="de-DE" dirty="0"/>
              <a:t>Zeigt den aktuellen Status des </a:t>
            </a:r>
            <a:r>
              <a:rPr lang="de-DE" dirty="0" err="1"/>
              <a:t>Repositories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diff		</a:t>
            </a:r>
            <a:r>
              <a:rPr lang="de-DE" dirty="0"/>
              <a:t>Zeigt die Änderungen seit dem letzten Commit</a:t>
            </a:r>
          </a:p>
          <a:p>
            <a:pPr marL="0" indent="0">
              <a:buNone/>
            </a:pP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branch</a:t>
            </a:r>
            <a:r>
              <a:rPr lang="de-DE" dirty="0"/>
              <a:t>	Erstellt einen neuen Branch / zeigt </a:t>
            </a:r>
            <a:r>
              <a:rPr lang="de-DE" dirty="0" err="1"/>
              <a:t>Branches</a:t>
            </a:r>
            <a:r>
              <a:rPr lang="de-DE" dirty="0"/>
              <a:t> an</a:t>
            </a:r>
          </a:p>
          <a:p>
            <a:pPr marL="0" indent="0">
              <a:buNone/>
            </a:pPr>
            <a:r>
              <a:rPr lang="en-US" dirty="0"/>
              <a:t>git switch	</a:t>
            </a:r>
            <a:r>
              <a:rPr lang="de-DE" dirty="0"/>
              <a:t>Wechselt zu einem anderen Branch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7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4A757-FC7A-4777-847B-68F19349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Wichtig</a:t>
            </a:r>
            <a:r>
              <a:rPr lang="en-US" dirty="0"/>
              <a:t>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914B58-227E-4303-B794-7F3C51D10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Erst </a:t>
            </a:r>
            <a:r>
              <a:rPr lang="de-DE" dirty="0" err="1"/>
              <a:t>commit</a:t>
            </a:r>
            <a:r>
              <a:rPr lang="de-DE" dirty="0"/>
              <a:t>, dann pull </a:t>
            </a:r>
            <a:r>
              <a:rPr lang="de-DE" dirty="0">
                <a:sym typeface="Wingdings" panose="05000000000000000000" pitchFamily="2" charset="2"/>
              </a:rPr>
              <a:t> kann sonst zu Konflikten führen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Zuerst pull, dann push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Besonders wenn mehrere Personen am selben Repository arbeiten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Regelmäßig</a:t>
            </a:r>
            <a:r>
              <a:rPr lang="en-GB" dirty="0"/>
              <a:t> </a:t>
            </a:r>
            <a:r>
              <a:rPr lang="en-GB" dirty="0" err="1"/>
              <a:t>committen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Vor wichtigen Aktionen: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status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Nicht direkt auf </a:t>
            </a:r>
            <a:r>
              <a:rPr lang="de-DE" dirty="0" err="1"/>
              <a:t>main</a:t>
            </a:r>
            <a:r>
              <a:rPr lang="de-DE" dirty="0"/>
              <a:t> arbeiten, wenn mehrere Personen beteiligt sind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Keine Panik bei Konflikten – </a:t>
            </a:r>
            <a:r>
              <a:rPr lang="de-DE" dirty="0" err="1"/>
              <a:t>Git</a:t>
            </a:r>
            <a:r>
              <a:rPr lang="de-DE" dirty="0"/>
              <a:t> löscht deine Arbeit nicht einfach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05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25568D-0568-4AB4-9408-A65072691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en-US" dirty="0" err="1"/>
              <a:t>installieren</a:t>
            </a:r>
            <a:r>
              <a:rPr lang="en-US" dirty="0"/>
              <a:t> und GitHub Account </a:t>
            </a:r>
            <a:r>
              <a:rPr lang="en-US" dirty="0" err="1"/>
              <a:t>erstellen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4E002A-3A5A-4929-A759-8FAF2180C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Windows: </a:t>
            </a:r>
            <a:r>
              <a:rPr lang="en-US" dirty="0">
                <a:hlinkClick r:id="rId2"/>
              </a:rPr>
              <a:t>https://git-scm.com/install/windows</a:t>
            </a:r>
            <a:endParaRPr lang="en-US" dirty="0"/>
          </a:p>
          <a:p>
            <a:r>
              <a:rPr lang="en-US" dirty="0"/>
              <a:t>Mac: </a:t>
            </a:r>
            <a:r>
              <a:rPr lang="en-US" dirty="0">
                <a:hlinkClick r:id="rId3"/>
              </a:rPr>
              <a:t>https://git-scm.com/install/mac</a:t>
            </a:r>
            <a:endParaRPr lang="en-US" dirty="0"/>
          </a:p>
          <a:p>
            <a:r>
              <a:rPr lang="en-US" dirty="0"/>
              <a:t>Linux: </a:t>
            </a:r>
            <a:r>
              <a:rPr lang="en-US" dirty="0">
                <a:hlinkClick r:id="rId4"/>
              </a:rPr>
              <a:t>https://git-scm.com/install/linux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GitHub Account </a:t>
            </a:r>
            <a:r>
              <a:rPr lang="en-US" dirty="0" err="1"/>
              <a:t>kostenlos</a:t>
            </a:r>
            <a:r>
              <a:rPr lang="en-US" dirty="0"/>
              <a:t> </a:t>
            </a:r>
            <a:r>
              <a:rPr lang="en-US" dirty="0" err="1"/>
              <a:t>erstellen</a:t>
            </a:r>
            <a:r>
              <a:rPr lang="en-US" dirty="0"/>
              <a:t> </a:t>
            </a:r>
            <a:r>
              <a:rPr lang="en-US" dirty="0" err="1"/>
              <a:t>unter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www.github.com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78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DC6C6-39AE-4AF7-9962-FC26E3C1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Befehle</a:t>
            </a:r>
            <a:r>
              <a:rPr lang="en-US" dirty="0"/>
              <a:t> </a:t>
            </a:r>
            <a:r>
              <a:rPr lang="en-US" dirty="0" err="1"/>
              <a:t>eingeben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EF6B21-F648-4604-A6AD-EAF96F0D1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Windows: Git Bash </a:t>
            </a:r>
            <a:r>
              <a:rPr lang="en-US" dirty="0" err="1"/>
              <a:t>öffnen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Mac/Linux: Terminal </a:t>
            </a:r>
            <a:r>
              <a:rPr lang="en-US" dirty="0" err="1"/>
              <a:t>öffnen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0FD6933-1C73-4949-B912-DDE378291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714" y="2332426"/>
            <a:ext cx="9245013" cy="24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8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2F7293-5794-4385-83C9-8951FA904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Übungsaufgaben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83CE79-E7ED-4769-BC36-71D16B6BD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Aufgabe 1</a:t>
            </a:r>
          </a:p>
          <a:p>
            <a:r>
              <a:rPr lang="de-DE" dirty="0"/>
              <a:t>Kopiere die URL des </a:t>
            </a:r>
            <a:r>
              <a:rPr lang="de-DE" dirty="0" err="1"/>
              <a:t>Repositories</a:t>
            </a:r>
            <a:r>
              <a:rPr lang="de-DE" dirty="0"/>
              <a:t> und klone es auf deinen Computer: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https://github.com/yanaa16/github-uebung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git clone </a:t>
            </a:r>
            <a:r>
              <a:rPr lang="en-GB" dirty="0"/>
              <a:t>&lt;REPOSITORY-NAME&gt;</a:t>
            </a:r>
          </a:p>
          <a:p>
            <a:r>
              <a:rPr lang="en-US" dirty="0" err="1"/>
              <a:t>Wechsle</a:t>
            </a:r>
            <a:r>
              <a:rPr lang="en-US" dirty="0"/>
              <a:t> </a:t>
            </a:r>
            <a:r>
              <a:rPr lang="de-DE" dirty="0"/>
              <a:t>anschließend in den neuen Ordner: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	cd &lt;REPOSITORY-NAME&gt;</a:t>
            </a:r>
          </a:p>
          <a:p>
            <a:r>
              <a:rPr lang="en-GB" dirty="0"/>
              <a:t>Dort </a:t>
            </a:r>
            <a:r>
              <a:rPr lang="en-GB" dirty="0" err="1"/>
              <a:t>findest</a:t>
            </a:r>
            <a:r>
              <a:rPr lang="en-GB" dirty="0"/>
              <a:t> du die </a:t>
            </a:r>
            <a:r>
              <a:rPr lang="en-GB" dirty="0" err="1"/>
              <a:t>weiteren</a:t>
            </a:r>
            <a:r>
              <a:rPr lang="en-GB" dirty="0"/>
              <a:t> </a:t>
            </a:r>
            <a:r>
              <a:rPr lang="en-GB" dirty="0" err="1"/>
              <a:t>Übungsaufgaben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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164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C29D5-F244-4616-85FE-9BEE2C8F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Weitere</a:t>
            </a:r>
            <a:r>
              <a:rPr lang="en-US" dirty="0"/>
              <a:t> Links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F5122-6DF6-414D-B307-C0B5D13CE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en-US" dirty="0" err="1"/>
              <a:t>Cheatsheet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hlinkClick r:id="rId2"/>
              </a:rPr>
              <a:t>https://education.github.com/git-cheat-sheet-education.pdf</a:t>
            </a:r>
            <a:endParaRPr lang="en-US" dirty="0"/>
          </a:p>
          <a:p>
            <a:r>
              <a:rPr lang="en-US" dirty="0"/>
              <a:t>Git Tutorial:</a:t>
            </a:r>
            <a:br>
              <a:rPr lang="en-US" dirty="0"/>
            </a:br>
            <a:r>
              <a:rPr lang="en-US" dirty="0">
                <a:hlinkClick r:id="rId3"/>
              </a:rPr>
              <a:t>https://www.w3schools.com/git/</a:t>
            </a:r>
            <a:r>
              <a:rPr lang="en-US" dirty="0"/>
              <a:t> </a:t>
            </a:r>
          </a:p>
          <a:p>
            <a:r>
              <a:rPr lang="en-US" dirty="0"/>
              <a:t>GitHub Tutorial: </a:t>
            </a:r>
            <a:br>
              <a:rPr lang="en-US" dirty="0"/>
            </a:br>
            <a:r>
              <a:rPr lang="en-US" dirty="0">
                <a:hlinkClick r:id="rId4"/>
              </a:rPr>
              <a:t>https://github.com/skills/introduction-to-github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861914"/>
      </p:ext>
    </p:extLst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845</Words>
  <Application>Microsoft Office PowerPoint</Application>
  <PresentationFormat>Breitbild</PresentationFormat>
  <Paragraphs>127</Paragraphs>
  <Slides>18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Rückblick</vt:lpstr>
      <vt:lpstr>Einführung in  Git und GitHub</vt:lpstr>
      <vt:lpstr>Git</vt:lpstr>
      <vt:lpstr>Repositories</vt:lpstr>
      <vt:lpstr>Git ist nicht dasselbe wie GitHub</vt:lpstr>
      <vt:lpstr>Snapshots</vt:lpstr>
      <vt:lpstr>Commits</vt:lpstr>
      <vt:lpstr>Lokale und remote Repositories</vt:lpstr>
      <vt:lpstr>Pull &amp; Push</vt:lpstr>
      <vt:lpstr>Die wichtigsten Schritte</vt:lpstr>
      <vt:lpstr>Overview</vt:lpstr>
      <vt:lpstr>Branches</vt:lpstr>
      <vt:lpstr>Branches overview</vt:lpstr>
      <vt:lpstr>Hilfreiche Befehle</vt:lpstr>
      <vt:lpstr>Wichtig!</vt:lpstr>
      <vt:lpstr>Git installieren und GitHub Account erstellen</vt:lpstr>
      <vt:lpstr>Befehle eingeben</vt:lpstr>
      <vt:lpstr>Übungsaufgaben</vt:lpstr>
      <vt:lpstr>Weitere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Einleitung in Git und Github</dc:title>
  <dc:creator>Yana Schwarze</dc:creator>
  <cp:lastModifiedBy>Yana Schwarze</cp:lastModifiedBy>
  <cp:revision>29</cp:revision>
  <dcterms:created xsi:type="dcterms:W3CDTF">2026-08-27T12:55:34Z</dcterms:created>
  <dcterms:modified xsi:type="dcterms:W3CDTF">2026-09-14T10:02:30Z</dcterms:modified>
</cp:coreProperties>
</file>